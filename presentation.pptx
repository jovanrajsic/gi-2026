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577044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DEA4DD-FE70-4E0D-9505-2529B58179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770440" y="136800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5770440" y="308556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C0E015-7300-488C-A3E6-5793B6F7AB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D3CFB9-E693-414F-B2E6-1C20ADB0B9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0B535D-15D3-46F8-BF06-007A9E367D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Click to edit the title text format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50505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50505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A5320044-0EBE-46EC-9BC9-907D477FA272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" name=""/>
          <p:cNvCxnSpPr>
            <a:stCxn id="6" idx="6"/>
            <a:endCxn id="7" idx="2"/>
          </p:cNvCxnSpPr>
          <p:nvPr/>
        </p:nvCxnSpPr>
        <p:spPr>
          <a:xfrm>
            <a:off x="540000" y="306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"/>
          <p:cNvCxnSpPr>
            <a:stCxn id="9" idx="6"/>
            <a:endCxn id="10" idx="2"/>
          </p:cNvCxnSpPr>
          <p:nvPr/>
        </p:nvCxnSpPr>
        <p:spPr>
          <a:xfrm>
            <a:off x="720000" y="48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"/>
          <p:cNvCxnSpPr>
            <a:stCxn id="12" idx="6"/>
            <a:endCxn id="13" idx="2"/>
          </p:cNvCxnSpPr>
          <p:nvPr/>
        </p:nvCxnSpPr>
        <p:spPr>
          <a:xfrm>
            <a:off x="864000" y="702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"/>
          <p:cNvCxnSpPr>
            <a:stCxn id="15" idx="6"/>
            <a:endCxn id="16" idx="2"/>
          </p:cNvCxnSpPr>
          <p:nvPr/>
        </p:nvCxnSpPr>
        <p:spPr>
          <a:xfrm>
            <a:off x="720000" y="12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"/>
          <p:cNvCxnSpPr>
            <a:stCxn id="18" idx="6"/>
            <a:endCxn id="19" idx="2"/>
          </p:cNvCxnSpPr>
          <p:nvPr/>
        </p:nvCxnSpPr>
        <p:spPr>
          <a:xfrm>
            <a:off x="864000" y="954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"/>
          <p:cNvCxnSpPr>
            <a:stCxn id="21" idx="6"/>
            <a:endCxn id="22" idx="2"/>
          </p:cNvCxnSpPr>
          <p:nvPr/>
        </p:nvCxnSpPr>
        <p:spPr>
          <a:xfrm rot="10800000">
            <a:off x="540000" y="1350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"/>
          <p:cNvCxnSpPr>
            <a:stCxn id="24" idx="6"/>
            <a:endCxn id="25" idx="2"/>
          </p:cNvCxnSpPr>
          <p:nvPr/>
        </p:nvCxnSpPr>
        <p:spPr>
          <a:xfrm rot="10800000">
            <a:off x="720000" y="117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"/>
          <p:cNvCxnSpPr>
            <a:stCxn id="27" idx="6"/>
            <a:endCxn id="28" idx="2"/>
          </p:cNvCxnSpPr>
          <p:nvPr/>
        </p:nvCxnSpPr>
        <p:spPr>
          <a:xfrm rot="10800000">
            <a:off x="720000" y="153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"/>
          <p:cNvCxnSpPr>
            <a:stCxn id="30" idx="6"/>
            <a:endCxn id="31" idx="2"/>
          </p:cNvCxnSpPr>
          <p:nvPr/>
        </p:nvCxnSpPr>
        <p:spPr>
          <a:xfrm rot="10800000">
            <a:off x="864000" y="1746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"/>
          <p:cNvCxnSpPr>
            <a:stCxn id="33" idx="6"/>
            <a:endCxn id="34" idx="2"/>
          </p:cNvCxnSpPr>
          <p:nvPr/>
        </p:nvCxnSpPr>
        <p:spPr>
          <a:xfrm rot="10800000">
            <a:off x="864000" y="1998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"/>
          <p:cNvCxnSpPr>
            <a:stCxn id="36" idx="6"/>
            <a:endCxn id="37" idx="2"/>
          </p:cNvCxnSpPr>
          <p:nvPr/>
        </p:nvCxnSpPr>
        <p:spPr>
          <a:xfrm>
            <a:off x="540000" y="2394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"/>
          <p:cNvCxnSpPr>
            <a:stCxn id="39" idx="6"/>
            <a:endCxn id="40" idx="2"/>
          </p:cNvCxnSpPr>
          <p:nvPr/>
        </p:nvCxnSpPr>
        <p:spPr>
          <a:xfrm>
            <a:off x="720000" y="2214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"/>
          <p:cNvCxnSpPr>
            <a:stCxn id="42" idx="6"/>
            <a:endCxn id="43" idx="2"/>
          </p:cNvCxnSpPr>
          <p:nvPr/>
        </p:nvCxnSpPr>
        <p:spPr>
          <a:xfrm>
            <a:off x="720000" y="2583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"/>
          <p:cNvCxnSpPr>
            <a:stCxn id="45" idx="6"/>
            <a:endCxn id="46" idx="2"/>
          </p:cNvCxnSpPr>
          <p:nvPr/>
        </p:nvCxnSpPr>
        <p:spPr>
          <a:xfrm>
            <a:off x="864000" y="2799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"/>
          <p:cNvCxnSpPr>
            <a:stCxn id="48" idx="6"/>
            <a:endCxn id="49" idx="2"/>
          </p:cNvCxnSpPr>
          <p:nvPr/>
        </p:nvCxnSpPr>
        <p:spPr>
          <a:xfrm>
            <a:off x="864000" y="3051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"/>
          <p:cNvCxnSpPr>
            <a:stCxn id="51" idx="6"/>
            <a:endCxn id="52" idx="2"/>
          </p:cNvCxnSpPr>
          <p:nvPr/>
        </p:nvCxnSpPr>
        <p:spPr>
          <a:xfrm rot="10800000">
            <a:off x="540000" y="3447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"/>
          <p:cNvCxnSpPr>
            <a:stCxn id="54" idx="6"/>
            <a:endCxn id="55" idx="2"/>
          </p:cNvCxnSpPr>
          <p:nvPr/>
        </p:nvCxnSpPr>
        <p:spPr>
          <a:xfrm rot="10800000">
            <a:off x="738720" y="3267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"/>
          <p:cNvCxnSpPr>
            <a:stCxn id="57" idx="6"/>
            <a:endCxn id="58" idx="2"/>
          </p:cNvCxnSpPr>
          <p:nvPr/>
        </p:nvCxnSpPr>
        <p:spPr>
          <a:xfrm rot="10800000">
            <a:off x="729360" y="3636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"/>
          <p:cNvCxnSpPr>
            <a:stCxn id="60" idx="6"/>
            <a:endCxn id="61" idx="2"/>
          </p:cNvCxnSpPr>
          <p:nvPr/>
        </p:nvCxnSpPr>
        <p:spPr>
          <a:xfrm rot="10800000">
            <a:off x="873360" y="3852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"/>
          <p:cNvCxnSpPr>
            <a:stCxn id="63" idx="6"/>
            <a:endCxn id="64" idx="2"/>
          </p:cNvCxnSpPr>
          <p:nvPr/>
        </p:nvCxnSpPr>
        <p:spPr>
          <a:xfrm rot="10800000">
            <a:off x="873360" y="4104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"/>
          <p:cNvCxnSpPr>
            <a:stCxn id="66" idx="6"/>
            <a:endCxn id="67" idx="2"/>
          </p:cNvCxnSpPr>
          <p:nvPr/>
        </p:nvCxnSpPr>
        <p:spPr>
          <a:xfrm>
            <a:off x="549360" y="4500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"/>
          <p:cNvCxnSpPr>
            <a:stCxn id="69" idx="6"/>
            <a:endCxn id="70" idx="2"/>
          </p:cNvCxnSpPr>
          <p:nvPr/>
        </p:nvCxnSpPr>
        <p:spPr>
          <a:xfrm>
            <a:off x="729360" y="432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"/>
          <p:cNvCxnSpPr>
            <a:stCxn id="72" idx="6"/>
            <a:endCxn id="73" idx="2"/>
          </p:cNvCxnSpPr>
          <p:nvPr/>
        </p:nvCxnSpPr>
        <p:spPr>
          <a:xfrm>
            <a:off x="729360" y="468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"/>
          <p:cNvCxnSpPr>
            <a:stCxn id="75" idx="6"/>
            <a:endCxn id="76" idx="2"/>
          </p:cNvCxnSpPr>
          <p:nvPr/>
        </p:nvCxnSpPr>
        <p:spPr>
          <a:xfrm>
            <a:off x="873360" y="4896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7" name=""/>
          <p:cNvCxnSpPr>
            <a:stCxn id="78" idx="6"/>
            <a:endCxn id="79" idx="2"/>
          </p:cNvCxnSpPr>
          <p:nvPr/>
        </p:nvCxnSpPr>
        <p:spPr>
          <a:xfrm>
            <a:off x="873360" y="5148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0" name=""/>
          <p:cNvCxnSpPr>
            <a:stCxn id="81" idx="6"/>
            <a:endCxn id="82" idx="2"/>
          </p:cNvCxnSpPr>
          <p:nvPr/>
        </p:nvCxnSpPr>
        <p:spPr>
          <a:xfrm rot="10800000">
            <a:off x="549360" y="5544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3" name=""/>
          <p:cNvCxnSpPr>
            <a:stCxn id="84" idx="6"/>
            <a:endCxn id="85" idx="2"/>
          </p:cNvCxnSpPr>
          <p:nvPr/>
        </p:nvCxnSpPr>
        <p:spPr>
          <a:xfrm rot="10800000">
            <a:off x="729360" y="5364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sp>
        <p:nvSpPr>
          <p:cNvPr id="7" name=""/>
          <p:cNvSpPr/>
          <p:nvPr/>
        </p:nvSpPr>
        <p:spPr>
          <a:xfrm>
            <a:off x="1260000" y="21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80000" y="39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080000" y="3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36000" y="612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936000" y="86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1260000" y="126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1080000" y="108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1080000" y="144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936000" y="165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936000" y="1908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60000" y="230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80000" y="212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80000" y="2493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36000" y="2709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36000" y="2961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1260000" y="335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1098720" y="317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1089360" y="354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945360" y="3762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>
            <a:off x="945360" y="401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69360" y="441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089360" y="423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89360" y="459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45360" y="480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45360" y="5058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369360" y="545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549360" y="527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0000" y="21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0000" y="39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0000" y="3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4000" y="612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4000" y="86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360000" y="126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540000" y="108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540000" y="144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684000" y="165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684000" y="1908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230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40000" y="212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40000" y="2493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4000" y="2709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4000" y="2961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>
            <a:off x="360000" y="335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558720" y="317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549360" y="354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693360" y="3762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 flipH="1">
            <a:off x="693360" y="401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69360" y="441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9360" y="423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9360" y="459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93360" y="480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93360" y="5058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H="1">
            <a:off x="1269360" y="545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H="1">
            <a:off x="1089360" y="527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zenodo.org/records/15866724" TargetMode="External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azimuth.hubmapconsortium.org/references/" TargetMode="Externa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Single-Cell Analysis of Immune Response to Nanoplastic Particles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429230-5EA4-4BA4-A7CD-5C2710A0F143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Context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Nanoplastics that enter the bloodstream interact directly with immune cells, and particle size appears to shape the response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We will use single-cell RNA sequencing (scRNA-seq) to investigate how nanoplastics of different sizes affect human peripheral blood immune cells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52ADFC-93B0-419B-9EEF-1F0CDF3807E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Dataset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3716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Source: Zenodo (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  <a:hlinkClick r:id="rId1"/>
              </a:rPr>
              <a:t>https://zenodo.org/records/15866724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)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Four samples from one donor, exposed to PSNPs: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40 nm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200 nm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40+200 nm mixture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control (no exposure)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8665BF-9BFD-464D-80C4-C13ED604290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Tasks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381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QC and preprocessing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Integration and clustering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Cell type annotation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Marker genes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Azimuth Neural Network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Composition analysis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Differential expression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Size specific effects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0C1D77-C07B-4142-B8AA-E00DAEF4C82F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QC and preprocessing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Thresholds: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min_genes=500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max_genes=4000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max_mt_pct=5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Selected 2500 HVG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After excluding MT/Ribo: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2487 HVG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5770080" y="1510200"/>
            <a:ext cx="3952440" cy="1283760"/>
          </a:xfrm>
          <a:prstGeom prst="rect">
            <a:avLst/>
          </a:prstGeom>
          <a:ln w="18000">
            <a:noFill/>
          </a:ln>
        </p:spPr>
      </p:pic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5770080" y="3128760"/>
            <a:ext cx="3951720" cy="148176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CE64E7-588E-4828-B32C-7A6CFED0944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Integration and clustering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878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PCA with 50 PCs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BBKNN – Batch Balanced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KNN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Forced to find NN within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each sample 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Used all 50 PCs to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capture maximum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variance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UMAP; Clusters - Leiden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6629400" y="1371600"/>
            <a:ext cx="2090880" cy="1568160"/>
          </a:xfrm>
          <a:prstGeom prst="rect">
            <a:avLst/>
          </a:prstGeom>
          <a:ln w="18000">
            <a:noFill/>
          </a:ln>
        </p:spPr>
      </p:pic>
      <p:pic>
        <p:nvPicPr>
          <p:cNvPr id="112" name="" descr=""/>
          <p:cNvPicPr/>
          <p:nvPr/>
        </p:nvPicPr>
        <p:blipFill>
          <a:blip r:embed="rId2"/>
          <a:stretch/>
        </p:blipFill>
        <p:spPr>
          <a:xfrm>
            <a:off x="6824520" y="3085560"/>
            <a:ext cx="2090880" cy="156816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3D32C3-DAC2-4F26-876A-E361BE8DFA90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Cell type annotation – marker genes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13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Used marker genes from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  <a:hlinkClick r:id="rId1"/>
              </a:rPr>
              <a:t>Azimuth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Annotated cell types with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score_genes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Issues: overlapped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annotations in UMAP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B and DC (DC is most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likely B)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CD8T and NK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6573960" y="1368000"/>
            <a:ext cx="2345040" cy="1568160"/>
          </a:xfrm>
          <a:prstGeom prst="rect">
            <a:avLst/>
          </a:prstGeom>
          <a:ln w="18000">
            <a:noFill/>
          </a:ln>
        </p:spPr>
      </p:pic>
      <p:pic>
        <p:nvPicPr>
          <p:cNvPr id="116" name="" descr=""/>
          <p:cNvPicPr/>
          <p:nvPr/>
        </p:nvPicPr>
        <p:blipFill>
          <a:blip r:embed="rId3"/>
          <a:stretch/>
        </p:blipFill>
        <p:spPr>
          <a:xfrm>
            <a:off x="6946200" y="3085560"/>
            <a:ext cx="1600200" cy="156816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68D182-FC2A-4816-B01A-9D7C4D929249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spcAft>
                <a:spcPts val="1060"/>
              </a:spcAft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Cell type annotation - </a:t>
            </a: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Azimuth Neural Network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Azimuth Neural Network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for fine-grained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annotation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Used NN embeddings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instead of PCA for kNN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DC can be ignored (low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number of annotations)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We will use this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annotation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6650640" y="1368000"/>
            <a:ext cx="2191680" cy="1568160"/>
          </a:xfrm>
          <a:prstGeom prst="rect">
            <a:avLst/>
          </a:prstGeom>
          <a:ln w="18000">
            <a:noFill/>
          </a:ln>
        </p:spPr>
      </p:pic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6486120" y="3085560"/>
            <a:ext cx="2520360" cy="156816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817ECE-A8CF-4370-9454-F6205640E84A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Composition analysis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304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Monocytes increase 2x in 40nm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and 6.7x in 200nm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Inflammatory response from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PSNPs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CD4 T cells increasing – helper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cells activating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NK cells decreasing – potentially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dying from toxicity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“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Other” (unannotated, low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confidence) cells increased –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potentially deformation caused by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PSNPs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6534360" y="1368000"/>
            <a:ext cx="2424240" cy="1568160"/>
          </a:xfrm>
          <a:prstGeom prst="rect">
            <a:avLst/>
          </a:prstGeom>
          <a:ln w="18000">
            <a:noFill/>
          </a:ln>
        </p:spPr>
      </p:pic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6247800" y="3085560"/>
            <a:ext cx="2997360" cy="156816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DA13F1-1289-44BB-BE90-BE3FBEB4D62B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Differential expression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878" lnSpcReduction="10000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All cell types and PSNP sizes – Response to LPS and bacteria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Immune system misidentifies PSNP and triggers inflammation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Size specific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200nm PSNPs force systemic recruitment of immune cells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40nm PSNPs cause internal damage to immune cells (oxidative stress)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40+200nm mixture forces “survival mode” for immune cells (halting growth, cells dying)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9449A1-3401-4EE9-B0FF-40CA4F60F616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Differential expression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13" lnSpcReduction="10000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Treg – 200nm – trying to decrease inflammation, 40nm – cells are dying and causing inflammation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NK – causing inflammation and dying/losing function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Monocytes – 200nm – calling for backup and expanding (6.7x), 40nm – causing pain and inflammation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CD8 T cells – calling for backup instead of doing the job themselves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B cells – causing inflammation instead of producing antibodies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8DDECF-965F-4173-8690-DE6002E7A47E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Size-specific effects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Shared – identification of PSNPs as pathogen-like threat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Unique to 40nm – Internal cell stress, likely cell penetration causing mechanical damage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Unique to 200nm – causing oxidative stress, probably 200nm PSNPs are too large for immune cells to process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Unique to mixture – stopping growth to save energy/stay alive, metabolic shutdown and cells dying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3035B5-D1BC-4F6B-96CB-2D96BF8B158B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Additional insights – Transcription factor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STAT1 decreases in exposed samples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PSNPs supress body’s ability to fight viruses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JUN increases in 200nm and mixture samples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Cellular stress, damage, inflammation signal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5770080" y="1472040"/>
            <a:ext cx="3952440" cy="307980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2795D1-9E32-4388-BAD2-2D7E6F406AD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Additional insights – Transcriptomic Entropy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28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Control has the highest entropy – highest range of genes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Exposed samples all have lower entropies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200nm sample has the lowest entropy – immune system is producing specialized immune cells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5770080" y="1528560"/>
            <a:ext cx="3952440" cy="296712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804D91-8E0E-4E6C-9518-E37E5891944B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Additional insights - Transcriptomic State-Space Displacement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65" lnSpcReduction="10000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Comparing UMAP distances between monocyte centroid and monocyte cells by sample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Control – 0.87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40nm – 1.05, 200nm and mixture – 1.06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Conclusion – nanoplastic samples “pushed away” monocytes from a healthy state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5770080" y="1435680"/>
            <a:ext cx="3952440" cy="315288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8EE15C-A07D-4537-85D8-A72CDC4A092D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Additional insights – Proinflammatory genes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Monocytes have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significantly higher score </a:t>
            </a: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than other cell types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They act as inflammation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epicenter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Monocytes are causing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inflammation by “eating” </a:t>
            </a: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PSNPs (phagocytes)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5770080" y="2302200"/>
            <a:ext cx="3952440" cy="141948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B25D1A-875C-4DE2-AC01-41067D1E97DF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2026-08-10T14:39:25Z</dcterms:created>
  <dc:creator/>
  <dc:description/>
  <dc:language>en-US</dc:language>
  <cp:lastModifiedBy/>
  <dcterms:modified xsi:type="dcterms:W3CDTF">2026-08-10T20:11:13Z</dcterms:modified>
  <cp:revision>3</cp:revision>
  <dc:subject/>
  <dc:title>DNA</dc:title>
</cp:coreProperties>
</file>